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5143500" cx="9144000"/>
  <p:notesSz cx="6858000" cy="9144000"/>
  <p:embeddedFontLst>
    <p:embeddedFont>
      <p:font typeface="Raleway"/>
      <p:regular r:id="rId35"/>
      <p:bold r:id="rId36"/>
      <p:italic r:id="rId37"/>
      <p:boldItalic r:id="rId38"/>
    </p:embeddedFont>
    <p:embeddedFont>
      <p:font typeface="Syne"/>
      <p:regular r:id="rId39"/>
      <p:bold r:id="rId40"/>
    </p:embeddedFont>
    <p:embeddedFont>
      <p:font typeface="Albert Sans"/>
      <p:regular r:id="rId41"/>
      <p:bold r:id="rId42"/>
      <p:italic r:id="rId43"/>
      <p:boldItalic r:id="rId44"/>
    </p:embeddedFont>
    <p:embeddedFont>
      <p:font typeface="Syne SemiBold"/>
      <p:regular r:id="rId45"/>
      <p:bold r:id="rId46"/>
    </p:embeddedFont>
    <p:embeddedFont>
      <p:font typeface="Syne Medium"/>
      <p:regular r:id="rId47"/>
      <p:bold r:id="rId48"/>
    </p:embeddedFont>
    <p:embeddedFont>
      <p:font typeface="Open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yne-bold.fntdata"/><Relationship Id="rId42" Type="http://schemas.openxmlformats.org/officeDocument/2006/relationships/font" Target="fonts/AlbertSans-bold.fntdata"/><Relationship Id="rId41" Type="http://schemas.openxmlformats.org/officeDocument/2006/relationships/font" Target="fonts/AlbertSans-regular.fntdata"/><Relationship Id="rId44" Type="http://schemas.openxmlformats.org/officeDocument/2006/relationships/font" Target="fonts/AlbertSans-boldItalic.fntdata"/><Relationship Id="rId43" Type="http://schemas.openxmlformats.org/officeDocument/2006/relationships/font" Target="fonts/AlbertSans-italic.fntdata"/><Relationship Id="rId46" Type="http://schemas.openxmlformats.org/officeDocument/2006/relationships/font" Target="fonts/SyneSemiBold-bold.fntdata"/><Relationship Id="rId45" Type="http://schemas.openxmlformats.org/officeDocument/2006/relationships/font" Target="fonts/SyneSemiBol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SyneMedium-bold.fntdata"/><Relationship Id="rId47" Type="http://schemas.openxmlformats.org/officeDocument/2006/relationships/font" Target="fonts/SyneMedium-regular.fntdata"/><Relationship Id="rId49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font" Target="fonts/Raleway-regular.fntdata"/><Relationship Id="rId34" Type="http://schemas.openxmlformats.org/officeDocument/2006/relationships/slide" Target="slides/slide30.xml"/><Relationship Id="rId37" Type="http://schemas.openxmlformats.org/officeDocument/2006/relationships/font" Target="fonts/Raleway-italic.fntdata"/><Relationship Id="rId36" Type="http://schemas.openxmlformats.org/officeDocument/2006/relationships/font" Target="fonts/Raleway-bold.fntdata"/><Relationship Id="rId39" Type="http://schemas.openxmlformats.org/officeDocument/2006/relationships/font" Target="fonts/Syne-regular.fntdata"/><Relationship Id="rId38" Type="http://schemas.openxmlformats.org/officeDocument/2006/relationships/font" Target="fonts/Raleway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OpenSans-italic.fntdata"/><Relationship Id="rId50" Type="http://schemas.openxmlformats.org/officeDocument/2006/relationships/font" Target="fonts/OpenSans-bold.fntdata"/><Relationship Id="rId52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Show cookie ان براوزر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53ed5176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53ed5176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53ed517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53ed517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389400" y="3946400"/>
            <a:ext cx="3041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techstartup-osc2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539500"/>
            <a:ext cx="3686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3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2" type="title"/>
          </p:nvPr>
        </p:nvSpPr>
        <p:spPr>
          <a:xfrm>
            <a:off x="4494552" y="19510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3" type="title"/>
          </p:nvPr>
        </p:nvSpPr>
        <p:spPr>
          <a:xfrm>
            <a:off x="4494552" y="33062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4" type="title"/>
          </p:nvPr>
        </p:nvSpPr>
        <p:spPr>
          <a:xfrm>
            <a:off x="4494552" y="26286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5" type="title"/>
          </p:nvPr>
        </p:nvSpPr>
        <p:spPr>
          <a:xfrm>
            <a:off x="4494552" y="39838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5559775" y="19510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5559775" y="26286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5559775" y="33062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8" type="subTitle"/>
          </p:nvPr>
        </p:nvSpPr>
        <p:spPr>
          <a:xfrm>
            <a:off x="5559775" y="39838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4" t="3112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713225" y="3585200"/>
            <a:ext cx="77178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2" type="title"/>
          </p:nvPr>
        </p:nvSpPr>
        <p:spPr>
          <a:xfrm>
            <a:off x="713225" y="499725"/>
            <a:ext cx="12675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" name="Google Shape;29;p5"/>
          <p:cNvSpPr txBox="1"/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85049" y="2398525"/>
            <a:ext cx="5196300" cy="1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" name="Google Shape;33;p6"/>
          <p:cNvSpPr txBox="1"/>
          <p:nvPr>
            <p:ph type="title"/>
          </p:nvPr>
        </p:nvSpPr>
        <p:spPr>
          <a:xfrm>
            <a:off x="720000" y="3644300"/>
            <a:ext cx="29553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4592700" y="3268312"/>
            <a:ext cx="38382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subTitle"/>
          </p:nvPr>
        </p:nvSpPr>
        <p:spPr>
          <a:xfrm>
            <a:off x="4589325" y="1219088"/>
            <a:ext cx="38382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subTitle"/>
          </p:nvPr>
        </p:nvSpPr>
        <p:spPr>
          <a:xfrm>
            <a:off x="4589325" y="646388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4" type="subTitle"/>
          </p:nvPr>
        </p:nvSpPr>
        <p:spPr>
          <a:xfrm>
            <a:off x="4592700" y="2695612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 title="techstartup-osc1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" name="Google Shape;4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" name="Google Shape;43;p8"/>
          <p:cNvSpPr txBox="1"/>
          <p:nvPr>
            <p:ph type="title"/>
          </p:nvPr>
        </p:nvSpPr>
        <p:spPr>
          <a:xfrm>
            <a:off x="713257" y="539500"/>
            <a:ext cx="283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subTitle"/>
          </p:nvPr>
        </p:nvSpPr>
        <p:spPr>
          <a:xfrm>
            <a:off x="713225" y="1325575"/>
            <a:ext cx="28368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/>
        </p:nvSpPr>
        <p:spPr>
          <a:xfrm>
            <a:off x="5004275" y="3649552"/>
            <a:ext cx="3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Freepik</a:t>
            </a:r>
            <a:r>
              <a:rPr b="0" i="0" lang="en" sz="1000" u="sng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 title="techstartup-osc1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" name="Google Shape;48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0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" name="Google Shape;52;p10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811975" y="539488"/>
            <a:ext cx="429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4" name="Google Shape;54;p10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1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4" t="3112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1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2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" name="Google Shape;60;p12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" name="Google Shape;67;p14"/>
          <p:cNvSpPr txBox="1"/>
          <p:nvPr>
            <p:ph hasCustomPrompt="1" type="title"/>
          </p:nvPr>
        </p:nvSpPr>
        <p:spPr>
          <a:xfrm>
            <a:off x="713225" y="539500"/>
            <a:ext cx="6576000" cy="9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b="0" sz="6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5607575" y="3961100"/>
            <a:ext cx="2823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4" name="Google Shape;74;p16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" name="Google Shape;77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719750" y="3509900"/>
            <a:ext cx="32868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subTitle"/>
          </p:nvPr>
        </p:nvSpPr>
        <p:spPr>
          <a:xfrm>
            <a:off x="5137201" y="3499275"/>
            <a:ext cx="32868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3" type="subTitle"/>
          </p:nvPr>
        </p:nvSpPr>
        <p:spPr>
          <a:xfrm>
            <a:off x="5137201" y="1451925"/>
            <a:ext cx="32868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4" type="subTitle"/>
          </p:nvPr>
        </p:nvSpPr>
        <p:spPr>
          <a:xfrm>
            <a:off x="719750" y="2708600"/>
            <a:ext cx="3286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5" type="subTitle"/>
          </p:nvPr>
        </p:nvSpPr>
        <p:spPr>
          <a:xfrm>
            <a:off x="5137201" y="2697975"/>
            <a:ext cx="3286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6" type="subTitle"/>
          </p:nvPr>
        </p:nvSpPr>
        <p:spPr>
          <a:xfrm>
            <a:off x="5137204" y="650625"/>
            <a:ext cx="32868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echstartup-osc6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" name="Google Shape;92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" type="subTitle"/>
          </p:nvPr>
        </p:nvSpPr>
        <p:spPr>
          <a:xfrm>
            <a:off x="715400" y="1710171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2" type="subTitle"/>
          </p:nvPr>
        </p:nvSpPr>
        <p:spPr>
          <a:xfrm>
            <a:off x="3376873" y="1710149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3" type="subTitle"/>
          </p:nvPr>
        </p:nvSpPr>
        <p:spPr>
          <a:xfrm>
            <a:off x="715400" y="3498801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4" type="subTitle"/>
          </p:nvPr>
        </p:nvSpPr>
        <p:spPr>
          <a:xfrm>
            <a:off x="3376873" y="3498797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5" type="subTitle"/>
          </p:nvPr>
        </p:nvSpPr>
        <p:spPr>
          <a:xfrm>
            <a:off x="6033621" y="1710149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6" type="subTitle"/>
          </p:nvPr>
        </p:nvSpPr>
        <p:spPr>
          <a:xfrm>
            <a:off x="6033621" y="3498797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7" type="subTitle"/>
          </p:nvPr>
        </p:nvSpPr>
        <p:spPr>
          <a:xfrm>
            <a:off x="720114" y="1017725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8" type="subTitle"/>
          </p:nvPr>
        </p:nvSpPr>
        <p:spPr>
          <a:xfrm>
            <a:off x="3381406" y="1017725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9" type="subTitle"/>
          </p:nvPr>
        </p:nvSpPr>
        <p:spPr>
          <a:xfrm>
            <a:off x="6037972" y="1017725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3" type="subTitle"/>
          </p:nvPr>
        </p:nvSpPr>
        <p:spPr>
          <a:xfrm>
            <a:off x="720114" y="2803098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14" type="subTitle"/>
          </p:nvPr>
        </p:nvSpPr>
        <p:spPr>
          <a:xfrm>
            <a:off x="3381406" y="2803098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idx="15" type="subTitle"/>
          </p:nvPr>
        </p:nvSpPr>
        <p:spPr>
          <a:xfrm>
            <a:off x="6037972" y="2803098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techstartup-osc1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i="0" sz="26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wK9azcHhsB-OW-ZVpBdirH3tqw8QEtyx/view" TargetMode="External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idx="1" type="subTitle"/>
          </p:nvPr>
        </p:nvSpPr>
        <p:spPr>
          <a:xfrm>
            <a:off x="5528575" y="3740675"/>
            <a:ext cx="3041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Session By: Wafaa Atef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Slides By: Omnia , Yomna</a:t>
            </a:r>
            <a:endParaRPr/>
          </a:p>
        </p:txBody>
      </p:sp>
      <p:sp>
        <p:nvSpPr>
          <p:cNvPr id="117" name="Google Shape;117;p24"/>
          <p:cNvSpPr txBox="1"/>
          <p:nvPr>
            <p:ph type="ctrTitle"/>
          </p:nvPr>
        </p:nvSpPr>
        <p:spPr>
          <a:xfrm>
            <a:off x="2867400" y="2118150"/>
            <a:ext cx="34092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6 </a:t>
            </a:r>
            <a:endParaRPr/>
          </a:p>
        </p:txBody>
      </p:sp>
      <p:cxnSp>
        <p:nvCxnSpPr>
          <p:cNvPr id="118" name="Google Shape;118;p24"/>
          <p:cNvCxnSpPr/>
          <p:nvPr/>
        </p:nvCxnSpPr>
        <p:spPr>
          <a:xfrm>
            <a:off x="492775" y="4824400"/>
            <a:ext cx="824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719275" y="400325"/>
            <a:ext cx="5101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Table of contents </a:t>
            </a:r>
            <a:r>
              <a:rPr lang="en">
                <a:solidFill>
                  <a:schemeClr val="lt2"/>
                </a:solidFill>
              </a:rPr>
              <a:t>&lt;/&gt;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24" name="Google Shape;124;p25"/>
          <p:cNvSpPr txBox="1"/>
          <p:nvPr>
            <p:ph idx="2" type="title"/>
          </p:nvPr>
        </p:nvSpPr>
        <p:spPr>
          <a:xfrm>
            <a:off x="416077" y="9363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1 </a:t>
            </a:r>
            <a:r>
              <a:rPr lang="en"/>
              <a:t> -</a:t>
            </a:r>
            <a:endParaRPr/>
          </a:p>
        </p:txBody>
      </p:sp>
      <p:sp>
        <p:nvSpPr>
          <p:cNvPr id="125" name="Google Shape;125;p25"/>
          <p:cNvSpPr txBox="1"/>
          <p:nvPr>
            <p:ph idx="3" type="title"/>
          </p:nvPr>
        </p:nvSpPr>
        <p:spPr>
          <a:xfrm>
            <a:off x="377702" y="2033626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3 -</a:t>
            </a:r>
            <a:endParaRPr/>
          </a:p>
        </p:txBody>
      </p:sp>
      <p:sp>
        <p:nvSpPr>
          <p:cNvPr id="126" name="Google Shape;126;p25"/>
          <p:cNvSpPr txBox="1"/>
          <p:nvPr>
            <p:ph idx="4" type="title"/>
          </p:nvPr>
        </p:nvSpPr>
        <p:spPr>
          <a:xfrm>
            <a:off x="377689" y="1413513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2 -</a:t>
            </a:r>
            <a:endParaRPr/>
          </a:p>
        </p:txBody>
      </p:sp>
      <p:sp>
        <p:nvSpPr>
          <p:cNvPr id="127" name="Google Shape;127;p25"/>
          <p:cNvSpPr txBox="1"/>
          <p:nvPr>
            <p:ph idx="5" type="title"/>
          </p:nvPr>
        </p:nvSpPr>
        <p:spPr>
          <a:xfrm>
            <a:off x="377702" y="3192438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5 -</a:t>
            </a:r>
            <a:endParaRPr/>
          </a:p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1317900" y="1021550"/>
            <a:ext cx="54828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Intro to 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Authentication &amp; Authorization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29" name="Google Shape;129;p25"/>
          <p:cNvSpPr txBox="1"/>
          <p:nvPr>
            <p:ph idx="6" type="subTitle"/>
          </p:nvPr>
        </p:nvSpPr>
        <p:spPr>
          <a:xfrm>
            <a:off x="1363628" y="1463575"/>
            <a:ext cx="34902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Authentication concept</a:t>
            </a:r>
            <a:endParaRPr/>
          </a:p>
        </p:txBody>
      </p:sp>
      <p:sp>
        <p:nvSpPr>
          <p:cNvPr id="130" name="Google Shape;130;p25"/>
          <p:cNvSpPr txBox="1"/>
          <p:nvPr>
            <p:ph idx="7" type="subTitle"/>
          </p:nvPr>
        </p:nvSpPr>
        <p:spPr>
          <a:xfrm>
            <a:off x="1363625" y="2064413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Token 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&amp; cookies</a:t>
            </a:r>
            <a:endParaRPr/>
          </a:p>
        </p:txBody>
      </p:sp>
      <p:sp>
        <p:nvSpPr>
          <p:cNvPr id="131" name="Google Shape;131;p25"/>
          <p:cNvSpPr txBox="1"/>
          <p:nvPr>
            <p:ph idx="8" type="subTitle"/>
          </p:nvPr>
        </p:nvSpPr>
        <p:spPr>
          <a:xfrm>
            <a:off x="1363625" y="2642250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Sign up/in flow</a:t>
            </a:r>
            <a:endParaRPr/>
          </a:p>
        </p:txBody>
      </p:sp>
      <p:sp>
        <p:nvSpPr>
          <p:cNvPr id="132" name="Google Shape;132;p25"/>
          <p:cNvSpPr txBox="1"/>
          <p:nvPr>
            <p:ph idx="2" type="title"/>
          </p:nvPr>
        </p:nvSpPr>
        <p:spPr>
          <a:xfrm>
            <a:off x="377702" y="2617213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4 - </a:t>
            </a:r>
            <a:endParaRPr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1391100" y="3363313"/>
            <a:ext cx="33585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Authorization</a:t>
            </a:r>
            <a:r>
              <a:rPr lang="en"/>
              <a:t> concept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/>
        </p:nvSpPr>
        <p:spPr>
          <a:xfrm>
            <a:off x="-1608900" y="382092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6 -</a:t>
            </a:r>
            <a:endParaRPr/>
          </a:p>
        </p:txBody>
      </p:sp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1391100" y="3983413"/>
            <a:ext cx="33585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Admin Panel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-1608900" y="429807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7 -</a:t>
            </a:r>
            <a:endParaRPr/>
          </a:p>
        </p:txBody>
      </p:sp>
      <p:sp>
        <p:nvSpPr>
          <p:cNvPr id="137" name="Google Shape;137;p25"/>
          <p:cNvSpPr txBox="1"/>
          <p:nvPr>
            <p:ph idx="1" type="subTitle"/>
          </p:nvPr>
        </p:nvSpPr>
        <p:spPr>
          <a:xfrm>
            <a:off x="1429475" y="4460563"/>
            <a:ext cx="33585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Kahoot !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1733825" y="1187450"/>
            <a:ext cx="51786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400"/>
              <a:t>Introduction to </a:t>
            </a:r>
            <a:endParaRPr sz="4400"/>
          </a:p>
        </p:txBody>
      </p:sp>
      <p:cxnSp>
        <p:nvCxnSpPr>
          <p:cNvPr id="143" name="Google Shape;143;p26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26"/>
          <p:cNvSpPr txBox="1"/>
          <p:nvPr/>
        </p:nvSpPr>
        <p:spPr>
          <a:xfrm>
            <a:off x="1427375" y="2550425"/>
            <a:ext cx="41352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Authentication  &amp;</a:t>
            </a:r>
            <a:endParaRPr sz="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5257175" y="2518125"/>
            <a:ext cx="33531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Authorization</a:t>
            </a:r>
            <a:endParaRPr sz="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762754" y="2222550"/>
            <a:ext cx="76185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5800"/>
              <a:t>Story!</a:t>
            </a:r>
            <a:endParaRPr sz="5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8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6" name="Google Shape;156;p28" title="WhatsApp Video 2026-02-07 at 1.25.38 AM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82500"/>
            <a:ext cx="8077200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-425525" y="1778175"/>
            <a:ext cx="77178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Authentication </a:t>
            </a:r>
            <a:endParaRPr/>
          </a:p>
        </p:txBody>
      </p:sp>
      <p:cxnSp>
        <p:nvCxnSpPr>
          <p:cNvPr id="162" name="Google Shape;162;p29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idx="2" type="subTitle"/>
          </p:nvPr>
        </p:nvSpPr>
        <p:spPr>
          <a:xfrm>
            <a:off x="3800050" y="973450"/>
            <a:ext cx="50673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★"/>
            </a:pPr>
            <a:r>
              <a:rPr lang="en" sz="2100"/>
              <a:t>Authentication = verifying </a:t>
            </a:r>
            <a:r>
              <a:rPr lang="en" sz="2100">
                <a:solidFill>
                  <a:schemeClr val="lt2"/>
                </a:solidFill>
              </a:rPr>
              <a:t>identity</a:t>
            </a:r>
            <a:br>
              <a:rPr lang="en" sz="2100"/>
            </a:br>
            <a:endParaRPr sz="2100"/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★"/>
            </a:pPr>
            <a:r>
              <a:rPr lang="en" sz="2100"/>
              <a:t>Happens before authorization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500"/>
          </a:p>
        </p:txBody>
      </p:sp>
      <p:sp>
        <p:nvSpPr>
          <p:cNvPr id="168" name="Google Shape;168;p30"/>
          <p:cNvSpPr txBox="1"/>
          <p:nvPr>
            <p:ph idx="4" type="subTitle"/>
          </p:nvPr>
        </p:nvSpPr>
        <p:spPr>
          <a:xfrm>
            <a:off x="4113350" y="2480662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300">
                <a:solidFill>
                  <a:schemeClr val="lt2"/>
                </a:solidFill>
              </a:rPr>
              <a:t>Authentication in Real Life</a:t>
            </a:r>
            <a:endParaRPr sz="2300">
              <a:solidFill>
                <a:schemeClr val="lt2"/>
              </a:solidFill>
            </a:endParaRPr>
          </a:p>
        </p:txBody>
      </p:sp>
      <p:sp>
        <p:nvSpPr>
          <p:cNvPr id="169" name="Google Shape;169;p30"/>
          <p:cNvSpPr txBox="1"/>
          <p:nvPr>
            <p:ph type="title"/>
          </p:nvPr>
        </p:nvSpPr>
        <p:spPr>
          <a:xfrm>
            <a:off x="291725" y="2091900"/>
            <a:ext cx="35832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3400"/>
              <a:t>Authentication</a:t>
            </a:r>
            <a:endParaRPr sz="1000"/>
          </a:p>
        </p:txBody>
      </p:sp>
      <p:sp>
        <p:nvSpPr>
          <p:cNvPr id="170" name="Google Shape;170;p30"/>
          <p:cNvSpPr txBox="1"/>
          <p:nvPr>
            <p:ph idx="1" type="subTitle"/>
          </p:nvPr>
        </p:nvSpPr>
        <p:spPr>
          <a:xfrm>
            <a:off x="3753975" y="3053350"/>
            <a:ext cx="46737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❖"/>
            </a:pPr>
            <a:r>
              <a:rPr lang="en" sz="1900"/>
              <a:t>Showing your ID card</a:t>
            </a:r>
            <a:br>
              <a:rPr lang="en" sz="1900"/>
            </a:br>
            <a:endParaRPr sz="19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❖"/>
            </a:pPr>
            <a:r>
              <a:rPr lang="en" sz="1900"/>
              <a:t>Entering a password to unlock your phone</a:t>
            </a:r>
            <a:br>
              <a:rPr lang="en" sz="1900"/>
            </a:br>
            <a:endParaRPr sz="19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❖"/>
            </a:pPr>
            <a:r>
              <a:rPr lang="en" sz="1900"/>
              <a:t>Using fingerprint / Face ID</a:t>
            </a:r>
            <a:endParaRPr sz="1900"/>
          </a:p>
        </p:txBody>
      </p:sp>
      <p:sp>
        <p:nvSpPr>
          <p:cNvPr id="171" name="Google Shape;171;p30"/>
          <p:cNvSpPr txBox="1"/>
          <p:nvPr>
            <p:ph idx="3" type="subTitle"/>
          </p:nvPr>
        </p:nvSpPr>
        <p:spPr>
          <a:xfrm>
            <a:off x="4128700" y="367988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300">
                <a:solidFill>
                  <a:schemeClr val="lt2"/>
                </a:solidFill>
              </a:rPr>
              <a:t>Who are you?</a:t>
            </a:r>
            <a:endParaRPr sz="23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idx="4" type="subTitle"/>
          </p:nvPr>
        </p:nvSpPr>
        <p:spPr>
          <a:xfrm>
            <a:off x="3501800" y="1519200"/>
            <a:ext cx="550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800">
                <a:solidFill>
                  <a:schemeClr val="lt2"/>
                </a:solidFill>
              </a:rPr>
              <a:t>Authentication in Applications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177" name="Google Shape;177;p31"/>
          <p:cNvSpPr txBox="1"/>
          <p:nvPr>
            <p:ph type="title"/>
          </p:nvPr>
        </p:nvSpPr>
        <p:spPr>
          <a:xfrm>
            <a:off x="291725" y="2091900"/>
            <a:ext cx="35832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3400"/>
              <a:t>Authentication</a:t>
            </a:r>
            <a:endParaRPr sz="1000"/>
          </a:p>
        </p:txBody>
      </p:sp>
      <p:sp>
        <p:nvSpPr>
          <p:cNvPr id="178" name="Google Shape;178;p31"/>
          <p:cNvSpPr txBox="1"/>
          <p:nvPr>
            <p:ph idx="1" type="subTitle"/>
          </p:nvPr>
        </p:nvSpPr>
        <p:spPr>
          <a:xfrm>
            <a:off x="2738000" y="2278650"/>
            <a:ext cx="46737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❖"/>
            </a:pPr>
            <a:r>
              <a:rPr lang="en" sz="2600"/>
              <a:t>Login 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2780400" y="1475625"/>
            <a:ext cx="35832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3400"/>
              <a:t>Question!</a:t>
            </a:r>
            <a:endParaRPr sz="1000"/>
          </a:p>
        </p:txBody>
      </p:sp>
      <p:sp>
        <p:nvSpPr>
          <p:cNvPr id="184" name="Google Shape;184;p32"/>
          <p:cNvSpPr txBox="1"/>
          <p:nvPr>
            <p:ph type="title"/>
          </p:nvPr>
        </p:nvSpPr>
        <p:spPr>
          <a:xfrm>
            <a:off x="2002650" y="2780775"/>
            <a:ext cx="51387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900"/>
              <a:t>Http is </a:t>
            </a:r>
            <a:r>
              <a:rPr lang="en" sz="2900">
                <a:solidFill>
                  <a:schemeClr val="lt2"/>
                </a:solidFill>
              </a:rPr>
              <a:t>stateless or not</a:t>
            </a:r>
            <a:r>
              <a:rPr lang="en" sz="2900"/>
              <a:t>?</a:t>
            </a:r>
            <a:endParaRPr sz="2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2110300" y="618000"/>
            <a:ext cx="51387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900"/>
              <a:t>Http is </a:t>
            </a:r>
            <a:r>
              <a:rPr lang="en" sz="2900">
                <a:solidFill>
                  <a:schemeClr val="lt2"/>
                </a:solidFill>
              </a:rPr>
              <a:t>stateless</a:t>
            </a:r>
            <a:r>
              <a:rPr lang="en" sz="2900"/>
              <a:t>!</a:t>
            </a:r>
            <a:endParaRPr sz="2900"/>
          </a:p>
        </p:txBody>
      </p:sp>
      <p:sp>
        <p:nvSpPr>
          <p:cNvPr id="190" name="Google Shape;190;p33"/>
          <p:cNvSpPr txBox="1"/>
          <p:nvPr>
            <p:ph idx="1" type="subTitle"/>
          </p:nvPr>
        </p:nvSpPr>
        <p:spPr>
          <a:xfrm>
            <a:off x="2955325" y="5081987"/>
            <a:ext cx="38382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1" name="Google Shape;191;p33"/>
          <p:cNvSpPr txBox="1"/>
          <p:nvPr>
            <p:ph idx="3" type="subTitle"/>
          </p:nvPr>
        </p:nvSpPr>
        <p:spPr>
          <a:xfrm>
            <a:off x="460600" y="1650525"/>
            <a:ext cx="81990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</a:pPr>
            <a:r>
              <a:rPr lang="en" sz="2300"/>
              <a:t>which means each request is independent and the server does not remember previous requests by default </a:t>
            </a:r>
            <a:endParaRPr sz="2300"/>
          </a:p>
        </p:txBody>
      </p:sp>
      <p:pic>
        <p:nvPicPr>
          <p:cNvPr id="192" name="Google Shape;192;p33" title="تاج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5">
            <a:off x="4937200" y="425578"/>
            <a:ext cx="627075" cy="418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idx="4" type="subTitle"/>
          </p:nvPr>
        </p:nvSpPr>
        <p:spPr>
          <a:xfrm>
            <a:off x="1885000" y="444450"/>
            <a:ext cx="550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800">
                <a:solidFill>
                  <a:schemeClr val="lt2"/>
                </a:solidFill>
              </a:rPr>
              <a:t>And There is a Problem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198" name="Google Shape;198;p34"/>
          <p:cNvSpPr txBox="1"/>
          <p:nvPr>
            <p:ph idx="1" type="subTitle"/>
          </p:nvPr>
        </p:nvSpPr>
        <p:spPr>
          <a:xfrm>
            <a:off x="61425" y="1211575"/>
            <a:ext cx="8690100" cy="22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❖"/>
            </a:pPr>
            <a:r>
              <a:rPr lang="en" sz="2600"/>
              <a:t>Login is done once</a:t>
            </a:r>
            <a:endParaRPr sz="2600"/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600"/>
          </a:p>
          <a:p>
            <a:pPr indent="-3937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❖"/>
            </a:pPr>
            <a:r>
              <a:rPr lang="en" sz="2600"/>
              <a:t>so , When a user logs in successfully, the backend needs a way to remember them in future requests.</a:t>
            </a:r>
            <a:endParaRPr sz="2600"/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600"/>
          </a:p>
          <a:p>
            <a:pPr indent="-3937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❖"/>
            </a:pPr>
            <a:r>
              <a:rPr lang="en" sz="2600"/>
              <a:t>That ‘memory’ is done using either sessions or tokens.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idx="2" type="title"/>
          </p:nvPr>
        </p:nvSpPr>
        <p:spPr>
          <a:xfrm>
            <a:off x="644650" y="1547625"/>
            <a:ext cx="82866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Session-Based Authentication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                                 vs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 Token-Based Authentication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39850" y="1775475"/>
            <a:ext cx="8553600" cy="303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After login, the server creates a 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session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The session data is stored on the 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server (memory or database)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session ID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 is generated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The session ID is sent to the client as a cookie</a:t>
            </a:r>
            <a:b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3600"/>
              <a:buNone/>
            </a:pPr>
            <a:br>
              <a:rPr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/>
          </a:p>
        </p:txBody>
      </p:sp>
      <p:sp>
        <p:nvSpPr>
          <p:cNvPr id="209" name="Google Shape;209;p36"/>
          <p:cNvSpPr txBox="1"/>
          <p:nvPr>
            <p:ph idx="2" type="title"/>
          </p:nvPr>
        </p:nvSpPr>
        <p:spPr>
          <a:xfrm>
            <a:off x="238050" y="375675"/>
            <a:ext cx="8667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Session-Based Auth (Stateful)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7" title="giphy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4525" y="516075"/>
            <a:ext cx="5374950" cy="40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444150" y="2091900"/>
            <a:ext cx="29553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5000">
                <a:latin typeface="Arial"/>
                <a:ea typeface="Arial"/>
                <a:cs typeface="Arial"/>
                <a:sym typeface="Arial"/>
              </a:rPr>
              <a:t>cookies</a:t>
            </a:r>
            <a:endParaRPr sz="4100"/>
          </a:p>
        </p:txBody>
      </p:sp>
      <p:sp>
        <p:nvSpPr>
          <p:cNvPr id="220" name="Google Shape;220;p38"/>
          <p:cNvSpPr txBox="1"/>
          <p:nvPr>
            <p:ph idx="1" type="subTitle"/>
          </p:nvPr>
        </p:nvSpPr>
        <p:spPr>
          <a:xfrm>
            <a:off x="4153075" y="2577975"/>
            <a:ext cx="4596600" cy="23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Because HTTP is stateless, the backend uses cookies to </a:t>
            </a:r>
            <a:r>
              <a:rPr b="1" lang="en" sz="1900">
                <a:latin typeface="Arial"/>
                <a:ea typeface="Arial"/>
                <a:cs typeface="Arial"/>
                <a:sym typeface="Arial"/>
              </a:rPr>
              <a:t>maintain user state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across multiple requests.</a:t>
            </a:r>
            <a:br>
              <a:rPr lang="en" sz="1900">
                <a:latin typeface="Arial"/>
                <a:ea typeface="Arial"/>
                <a:cs typeface="Arial"/>
                <a:sym typeface="Arial"/>
              </a:rPr>
            </a:br>
            <a:r>
              <a:rPr lang="en" sz="1900">
                <a:latin typeface="Arial"/>
                <a:ea typeface="Arial"/>
                <a:cs typeface="Arial"/>
                <a:sym typeface="Arial"/>
              </a:rPr>
              <a:t> Cookies allow the server to recognize the same user without requiring repeated authentication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br>
              <a:rPr lang="en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/>
          </a:p>
        </p:txBody>
      </p:sp>
      <p:sp>
        <p:nvSpPr>
          <p:cNvPr id="221" name="Google Shape;221;p38"/>
          <p:cNvSpPr txBox="1"/>
          <p:nvPr>
            <p:ph idx="2" type="subTitle"/>
          </p:nvPr>
        </p:nvSpPr>
        <p:spPr>
          <a:xfrm>
            <a:off x="4132725" y="705950"/>
            <a:ext cx="49251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Cookies are </a:t>
            </a:r>
            <a:r>
              <a:rPr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small pieces of data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created by the backend and stored in the </a:t>
            </a:r>
            <a:r>
              <a:rPr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user’s browser.</a:t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They are automatically sent with </a:t>
            </a:r>
            <a:r>
              <a:rPr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every request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to the backend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</p:txBody>
      </p:sp>
      <p:sp>
        <p:nvSpPr>
          <p:cNvPr id="222" name="Google Shape;222;p38"/>
          <p:cNvSpPr txBox="1"/>
          <p:nvPr>
            <p:ph idx="4" type="subTitle"/>
          </p:nvPr>
        </p:nvSpPr>
        <p:spPr>
          <a:xfrm>
            <a:off x="3982550" y="2057226"/>
            <a:ext cx="47793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lt2"/>
                </a:solidFill>
              </a:rPr>
              <a:t>Why  Are cookies Important in Backend?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23" name="Google Shape;223;p38"/>
          <p:cNvSpPr/>
          <p:nvPr/>
        </p:nvSpPr>
        <p:spPr>
          <a:xfrm>
            <a:off x="4050825" y="954300"/>
            <a:ext cx="81900" cy="882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4" name="Google Shape;224;p38"/>
          <p:cNvSpPr/>
          <p:nvPr/>
        </p:nvSpPr>
        <p:spPr>
          <a:xfrm>
            <a:off x="4050825" y="1440475"/>
            <a:ext cx="81900" cy="882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5" name="Google Shape;225;p38"/>
          <p:cNvSpPr/>
          <p:nvPr/>
        </p:nvSpPr>
        <p:spPr>
          <a:xfrm>
            <a:off x="4042800" y="2949513"/>
            <a:ext cx="81900" cy="882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6" name="Google Shape;226;p38"/>
          <p:cNvSpPr/>
          <p:nvPr/>
        </p:nvSpPr>
        <p:spPr>
          <a:xfrm>
            <a:off x="4042800" y="3920613"/>
            <a:ext cx="81900" cy="882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idx="2" type="title"/>
          </p:nvPr>
        </p:nvSpPr>
        <p:spPr>
          <a:xfrm>
            <a:off x="301750" y="204225"/>
            <a:ext cx="81294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Token-Based Auth (Stateless)</a:t>
            </a:r>
            <a:endParaRPr/>
          </a:p>
        </p:txBody>
      </p:sp>
      <p:sp>
        <p:nvSpPr>
          <p:cNvPr id="232" name="Google Shape;232;p39"/>
          <p:cNvSpPr txBox="1"/>
          <p:nvPr/>
        </p:nvSpPr>
        <p:spPr>
          <a:xfrm>
            <a:off x="609450" y="1709325"/>
            <a:ext cx="8401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login, the server generates a token </a:t>
            </a:r>
            <a:b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token contains user data</a:t>
            </a:r>
            <a:b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token is sent to the client</a:t>
            </a:r>
            <a:b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client stores it (usually in a cookie)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121650" y="1857350"/>
            <a:ext cx="29553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4100"/>
              <a:t>Token</a:t>
            </a:r>
            <a:endParaRPr sz="4100"/>
          </a:p>
        </p:txBody>
      </p:sp>
      <p:sp>
        <p:nvSpPr>
          <p:cNvPr id="238" name="Google Shape;238;p40"/>
          <p:cNvSpPr txBox="1"/>
          <p:nvPr>
            <p:ph idx="1" type="subTitle"/>
          </p:nvPr>
        </p:nvSpPr>
        <p:spPr>
          <a:xfrm>
            <a:off x="2817425" y="2678538"/>
            <a:ext cx="5950500" cy="23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Tokens enable </a:t>
            </a: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stateless authentication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, meaning the server does not need to store session data.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They allow the backend to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identify the user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on every request without asking for credentials again.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Tokens help maintain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secure communication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between the frontend and backend.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/>
          </a:p>
        </p:txBody>
      </p:sp>
      <p:sp>
        <p:nvSpPr>
          <p:cNvPr id="239" name="Google Shape;239;p40"/>
          <p:cNvSpPr txBox="1"/>
          <p:nvPr>
            <p:ph idx="2" type="subTitle"/>
          </p:nvPr>
        </p:nvSpPr>
        <p:spPr>
          <a:xfrm>
            <a:off x="2929175" y="280913"/>
            <a:ext cx="57270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A token is a </a:t>
            </a:r>
            <a:r>
              <a:rPr b="1"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secure string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used to represent an authenticated user.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It is generated by the server after successful authentication and </a:t>
            </a:r>
            <a:r>
              <a:rPr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sent to the client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to prove the </a:t>
            </a:r>
            <a:r>
              <a:rPr lang="en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user’s identity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in future requests</a:t>
            </a:r>
            <a:endParaRPr sz="1900"/>
          </a:p>
        </p:txBody>
      </p:sp>
      <p:sp>
        <p:nvSpPr>
          <p:cNvPr id="240" name="Google Shape;240;p40"/>
          <p:cNvSpPr txBox="1"/>
          <p:nvPr>
            <p:ph idx="4" type="subTitle"/>
          </p:nvPr>
        </p:nvSpPr>
        <p:spPr>
          <a:xfrm>
            <a:off x="2892725" y="2031438"/>
            <a:ext cx="54060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>
                <a:solidFill>
                  <a:schemeClr val="lt2"/>
                </a:solidFill>
              </a:rPr>
              <a:t>Why Tokens Are Important in Backend?</a:t>
            </a:r>
            <a:endParaRPr sz="2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type="title"/>
          </p:nvPr>
        </p:nvSpPr>
        <p:spPr>
          <a:xfrm>
            <a:off x="413900" y="464050"/>
            <a:ext cx="84648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Role of Tokens in Authentication &amp; Authorization</a:t>
            </a:r>
            <a:endParaRPr/>
          </a:p>
        </p:txBody>
      </p:sp>
      <p:sp>
        <p:nvSpPr>
          <p:cNvPr id="246" name="Google Shape;246;p41"/>
          <p:cNvSpPr txBox="1"/>
          <p:nvPr/>
        </p:nvSpPr>
        <p:spPr>
          <a:xfrm>
            <a:off x="641600" y="1270200"/>
            <a:ext cx="8111100" cy="3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➔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i="0" lang="en" sz="2400" u="none" cap="none" strike="noStrike">
                <a:solidFill>
                  <a:srgbClr val="15D2CB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tokens confirm that the user has successfully logged in.</a:t>
            </a:r>
            <a:b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➔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i="0" lang="en" sz="2400" u="none" cap="none" strike="noStrike">
                <a:solidFill>
                  <a:srgbClr val="15D2CB"/>
                </a:solidFill>
                <a:latin typeface="Arial"/>
                <a:ea typeface="Arial"/>
                <a:cs typeface="Arial"/>
                <a:sym typeface="Arial"/>
              </a:rPr>
              <a:t>Authorization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tokens carry information as “user ID “or “role” that helps determine what the user is allowed to access.</a:t>
            </a:r>
            <a:b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➔"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Tokens are validated by the backend on </a:t>
            </a:r>
            <a:r>
              <a:rPr b="0" i="0" lang="en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each request</a:t>
            </a: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ensure the request is legitimate</a:t>
            </a:r>
            <a:endParaRPr b="0" i="0" sz="1200" u="none" cap="none" strike="noStrik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9174"/>
            <a:ext cx="9144000" cy="4845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3"/>
          <p:cNvPicPr preferRelativeResize="0"/>
          <p:nvPr/>
        </p:nvPicPr>
        <p:blipFill rotWithShape="1">
          <a:blip r:embed="rId3">
            <a:alphaModFix/>
          </a:blip>
          <a:srcRect b="524" l="0" r="0" t="504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4"/>
          <p:cNvSpPr txBox="1"/>
          <p:nvPr>
            <p:ph type="title"/>
          </p:nvPr>
        </p:nvSpPr>
        <p:spPr>
          <a:xfrm>
            <a:off x="421575" y="149300"/>
            <a:ext cx="84648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JSON Web Token (JWT)</a:t>
            </a:r>
            <a:endParaRPr/>
          </a:p>
        </p:txBody>
      </p:sp>
      <p:sp>
        <p:nvSpPr>
          <p:cNvPr id="262" name="Google Shape;262;p44"/>
          <p:cNvSpPr txBox="1"/>
          <p:nvPr/>
        </p:nvSpPr>
        <p:spPr>
          <a:xfrm>
            <a:off x="656950" y="970800"/>
            <a:ext cx="8111100" cy="3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➔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compact, secure token used for authentication</a:t>
            </a:r>
            <a:b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➔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 from backend → client after successful login</a:t>
            </a:r>
            <a:b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➔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in every request to identify the user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Char char="➔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JWT consists of 3 parts:  (jwt.io)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sng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Header.Payload.Signature</a:t>
            </a:r>
            <a:endParaRPr b="0" i="0" sz="1900" u="sng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◆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Header → token type &amp; algorithm</a:t>
            </a:r>
            <a:b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◆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Payload → user data (id, role, email)</a:t>
            </a:r>
            <a:b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◆"/>
            </a:pP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Signature → ensures token is not tampered with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5"/>
          <p:cNvSpPr txBox="1"/>
          <p:nvPr>
            <p:ph type="title"/>
          </p:nvPr>
        </p:nvSpPr>
        <p:spPr>
          <a:xfrm>
            <a:off x="-375775" y="1685825"/>
            <a:ext cx="77178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500">
                <a:latin typeface="Syne Medium"/>
                <a:ea typeface="Syne Medium"/>
                <a:cs typeface="Syne Medium"/>
                <a:sym typeface="Syne Medium"/>
              </a:rPr>
              <a:t>Sign up/in flow</a:t>
            </a:r>
            <a:r>
              <a:rPr lang="en"/>
              <a:t> </a:t>
            </a:r>
            <a:endParaRPr/>
          </a:p>
        </p:txBody>
      </p:sp>
      <p:cxnSp>
        <p:nvCxnSpPr>
          <p:cNvPr id="268" name="Google Shape;268;p45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89250"/>
            <a:ext cx="8839199" cy="2165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363" y="383262"/>
            <a:ext cx="6649275" cy="44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48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4" name="Google Shape;28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13" y="45344"/>
            <a:ext cx="8982775" cy="5052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9"/>
          <p:cNvSpPr txBox="1"/>
          <p:nvPr>
            <p:ph type="title"/>
          </p:nvPr>
        </p:nvSpPr>
        <p:spPr>
          <a:xfrm>
            <a:off x="400900" y="1863450"/>
            <a:ext cx="77178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Authorization</a:t>
            </a:r>
            <a:r>
              <a:rPr lang="en">
                <a:latin typeface="Syne Medium"/>
                <a:ea typeface="Syne Medium"/>
                <a:cs typeface="Syne Medium"/>
                <a:sym typeface="Syne Medium"/>
              </a:rPr>
              <a:t> concept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 </a:t>
            </a:r>
            <a:endParaRPr/>
          </a:p>
        </p:txBody>
      </p:sp>
      <p:cxnSp>
        <p:nvCxnSpPr>
          <p:cNvPr id="290" name="Google Shape;290;p49"/>
          <p:cNvCxnSpPr/>
          <p:nvPr/>
        </p:nvCxnSpPr>
        <p:spPr>
          <a:xfrm flipH="1" rot="10800000">
            <a:off x="-15350" y="4800200"/>
            <a:ext cx="9691500" cy="1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0"/>
          <p:cNvSpPr txBox="1"/>
          <p:nvPr>
            <p:ph idx="2" type="subTitle"/>
          </p:nvPr>
        </p:nvSpPr>
        <p:spPr>
          <a:xfrm>
            <a:off x="4308275" y="825750"/>
            <a:ext cx="4220400" cy="1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en" sz="1800"/>
              <a:t>Authorization = verifying </a:t>
            </a:r>
            <a:r>
              <a:rPr lang="en" sz="1800">
                <a:solidFill>
                  <a:schemeClr val="lt2"/>
                </a:solidFill>
              </a:rPr>
              <a:t>role</a:t>
            </a:r>
            <a:br>
              <a:rPr lang="en" sz="1800"/>
            </a:b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★"/>
            </a:pPr>
            <a:r>
              <a:rPr lang="en" sz="1800"/>
              <a:t>Is the process of </a:t>
            </a:r>
            <a:r>
              <a:rPr b="1" lang="en" sz="1800"/>
              <a:t>determining what </a:t>
            </a:r>
            <a:r>
              <a:rPr b="1" lang="en" sz="1800">
                <a:solidFill>
                  <a:schemeClr val="lt2"/>
                </a:solidFill>
              </a:rPr>
              <a:t>actions</a:t>
            </a:r>
            <a:r>
              <a:rPr b="1" lang="en" sz="1800"/>
              <a:t> an authenticated user is allowed to perform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 </a:t>
            </a:r>
            <a:endParaRPr b="1" sz="1900"/>
          </a:p>
        </p:txBody>
      </p:sp>
      <p:sp>
        <p:nvSpPr>
          <p:cNvPr id="296" name="Google Shape;296;p50"/>
          <p:cNvSpPr txBox="1"/>
          <p:nvPr>
            <p:ph idx="4" type="subTitle"/>
          </p:nvPr>
        </p:nvSpPr>
        <p:spPr>
          <a:xfrm>
            <a:off x="4308275" y="2467512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>
                <a:solidFill>
                  <a:schemeClr val="lt2"/>
                </a:solidFill>
              </a:rPr>
              <a:t>Authorization in Real Life</a:t>
            </a:r>
            <a:endParaRPr sz="20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97" name="Google Shape;297;p50"/>
          <p:cNvSpPr txBox="1"/>
          <p:nvPr>
            <p:ph type="title"/>
          </p:nvPr>
        </p:nvSpPr>
        <p:spPr>
          <a:xfrm>
            <a:off x="164650" y="2103300"/>
            <a:ext cx="39555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4200">
                <a:latin typeface="Arial"/>
                <a:ea typeface="Arial"/>
                <a:cs typeface="Arial"/>
                <a:sym typeface="Arial"/>
              </a:rPr>
              <a:t>Authorization</a:t>
            </a:r>
            <a:endParaRPr sz="200"/>
          </a:p>
        </p:txBody>
      </p:sp>
      <p:sp>
        <p:nvSpPr>
          <p:cNvPr id="298" name="Google Shape;298;p50"/>
          <p:cNvSpPr txBox="1"/>
          <p:nvPr>
            <p:ph idx="1" type="subTitle"/>
          </p:nvPr>
        </p:nvSpPr>
        <p:spPr>
          <a:xfrm>
            <a:off x="4120150" y="2850350"/>
            <a:ext cx="50259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en" sz="1600"/>
              <a:t>Being allowed to delete a post as an admin</a:t>
            </a:r>
            <a:endParaRPr sz="16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en" sz="1600"/>
              <a:t>Accessing your bank account features based on your role</a:t>
            </a:r>
            <a:endParaRPr sz="16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en" sz="1600"/>
              <a:t>Viewing restricted content after logging in</a:t>
            </a:r>
            <a:endParaRPr sz="16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en" sz="1600"/>
              <a:t>Opening specific apps or settings on your phone based on permissions</a:t>
            </a:r>
            <a:endParaRPr sz="1700"/>
          </a:p>
        </p:txBody>
      </p:sp>
      <p:sp>
        <p:nvSpPr>
          <p:cNvPr id="299" name="Google Shape;299;p50"/>
          <p:cNvSpPr txBox="1"/>
          <p:nvPr>
            <p:ph idx="3" type="subTitle"/>
          </p:nvPr>
        </p:nvSpPr>
        <p:spPr>
          <a:xfrm>
            <a:off x="4371475" y="277263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00">
                <a:solidFill>
                  <a:schemeClr val="lt2"/>
                </a:solidFill>
              </a:rPr>
              <a:t>What do you do?</a:t>
            </a:r>
            <a:endParaRPr sz="2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1"/>
          <p:cNvSpPr txBox="1"/>
          <p:nvPr>
            <p:ph type="title"/>
          </p:nvPr>
        </p:nvSpPr>
        <p:spPr>
          <a:xfrm>
            <a:off x="1969325" y="208850"/>
            <a:ext cx="5282700" cy="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Admin Panel Demo !</a:t>
            </a:r>
            <a:endParaRPr sz="3400"/>
          </a:p>
        </p:txBody>
      </p:sp>
      <p:pic>
        <p:nvPicPr>
          <p:cNvPr id="305" name="Google Shape;30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275" y="1245250"/>
            <a:ext cx="6187650" cy="34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اعطني فقط رمز كاهوت المربع الذي فس المنتصف كصورة" id="310" name="Google Shape;310;p52"/>
          <p:cNvPicPr preferRelativeResize="0"/>
          <p:nvPr/>
        </p:nvPicPr>
        <p:blipFill rotWithShape="1">
          <a:blip r:embed="rId3">
            <a:alphaModFix/>
          </a:blip>
          <a:srcRect b="22420" l="21792" r="22730" t="21191"/>
          <a:stretch/>
        </p:blipFill>
        <p:spPr>
          <a:xfrm>
            <a:off x="665675" y="1207463"/>
            <a:ext cx="2684675" cy="27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2"/>
          <p:cNvSpPr txBox="1"/>
          <p:nvPr/>
        </p:nvSpPr>
        <p:spPr>
          <a:xfrm>
            <a:off x="5029825" y="2159675"/>
            <a:ext cx="2997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5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Kahoot !</a:t>
            </a:r>
            <a:endParaRPr b="1" i="1" sz="5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type="title"/>
          </p:nvPr>
        </p:nvSpPr>
        <p:spPr>
          <a:xfrm>
            <a:off x="3153607" y="1649363"/>
            <a:ext cx="283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17" name="Google Shape;317;p53"/>
          <p:cNvSpPr txBox="1"/>
          <p:nvPr>
            <p:ph idx="1" type="subTitle"/>
          </p:nvPr>
        </p:nvSpPr>
        <p:spPr>
          <a:xfrm>
            <a:off x="3153575" y="2435437"/>
            <a:ext cx="28368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Do you have any questions?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18" name="Google Shape;318;p53"/>
          <p:cNvSpPr/>
          <p:nvPr/>
        </p:nvSpPr>
        <p:spPr>
          <a:xfrm>
            <a:off x="-25" y="3494125"/>
            <a:ext cx="9144000" cy="161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