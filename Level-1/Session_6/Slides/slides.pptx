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Syne"/>
      <p:regular r:id="rId40"/>
      <p:bold r:id="rId41"/>
    </p:embeddedFont>
    <p:embeddedFont>
      <p:font typeface="Albert Sans"/>
      <p:regular r:id="rId42"/>
      <p:bold r:id="rId43"/>
      <p:italic r:id="rId44"/>
      <p:boldItalic r:id="rId45"/>
    </p:embeddedFont>
    <p:embeddedFont>
      <p:font typeface="Syne SemiBold"/>
      <p:regular r:id="rId46"/>
      <p:bold r:id="rId47"/>
    </p:embeddedFont>
    <p:embeddedFont>
      <p:font typeface="Syne Medium"/>
      <p:regular r:id="rId48"/>
      <p:bold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yne-regular.fntdata"/><Relationship Id="rId42" Type="http://schemas.openxmlformats.org/officeDocument/2006/relationships/font" Target="fonts/AlbertSans-regular.fntdata"/><Relationship Id="rId41" Type="http://schemas.openxmlformats.org/officeDocument/2006/relationships/font" Target="fonts/Syne-bold.fntdata"/><Relationship Id="rId44" Type="http://schemas.openxmlformats.org/officeDocument/2006/relationships/font" Target="fonts/AlbertSans-italic.fntdata"/><Relationship Id="rId43" Type="http://schemas.openxmlformats.org/officeDocument/2006/relationships/font" Target="fonts/AlbertSans-bold.fntdata"/><Relationship Id="rId46" Type="http://schemas.openxmlformats.org/officeDocument/2006/relationships/font" Target="fonts/SyneSemiBold-regular.fntdata"/><Relationship Id="rId45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yneMedium-regular.fntdata"/><Relationship Id="rId47" Type="http://schemas.openxmlformats.org/officeDocument/2006/relationships/font" Target="fonts/SyneSemiBold-bold.fntdata"/><Relationship Id="rId49" Type="http://schemas.openxmlformats.org/officeDocument/2006/relationships/font" Target="fonts/Syne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font" Target="fonts/Raleway-bold.fntdata"/><Relationship Id="rId36" Type="http://schemas.openxmlformats.org/officeDocument/2006/relationships/font" Target="fonts/Raleway-regular.fntdata"/><Relationship Id="rId39" Type="http://schemas.openxmlformats.org/officeDocument/2006/relationships/font" Target="fonts/Raleway-boldItalic.fntdata"/><Relationship Id="rId38" Type="http://schemas.openxmlformats.org/officeDocument/2006/relationships/font" Target="fonts/Raleway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Show cookie ان براوزر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53ed51762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53ed5176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53ed517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53ed517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53ed517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53ed517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" name="Google Shape;33;p6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" name="Google Shape;4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0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1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" name="Google Shape;60;p12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4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wK9azcHhsB-OW-ZVpBdirH3tqw8QEtyx/view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5528575" y="3740675"/>
            <a:ext cx="3041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Session By: Wafaa Atef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Slides By: Omnia , Yomna</a:t>
            </a:r>
            <a:endParaRPr/>
          </a:p>
        </p:txBody>
      </p:sp>
      <p:sp>
        <p:nvSpPr>
          <p:cNvPr id="117" name="Google Shape;117;p24"/>
          <p:cNvSpPr txBox="1"/>
          <p:nvPr>
            <p:ph type="ctrTitle"/>
          </p:nvPr>
        </p:nvSpPr>
        <p:spPr>
          <a:xfrm>
            <a:off x="2867400" y="2118150"/>
            <a:ext cx="3409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6 </a:t>
            </a:r>
            <a:endParaRPr/>
          </a:p>
        </p:txBody>
      </p:sp>
      <p:cxnSp>
        <p:nvCxnSpPr>
          <p:cNvPr id="118" name="Google Shape;118;p24"/>
          <p:cNvCxnSpPr/>
          <p:nvPr/>
        </p:nvCxnSpPr>
        <p:spPr>
          <a:xfrm>
            <a:off x="492775" y="4824400"/>
            <a:ext cx="824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719275" y="400325"/>
            <a:ext cx="5101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Table of contents </a:t>
            </a:r>
            <a:r>
              <a:rPr lang="en">
                <a:solidFill>
                  <a:schemeClr val="lt2"/>
                </a:solidFill>
              </a:rPr>
              <a:t>&lt;/&gt;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 txBox="1"/>
          <p:nvPr>
            <p:ph idx="2" type="title"/>
          </p:nvPr>
        </p:nvSpPr>
        <p:spPr>
          <a:xfrm>
            <a:off x="416077" y="9363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1 </a:t>
            </a:r>
            <a:r>
              <a:rPr lang="en"/>
              <a:t> -</a:t>
            </a:r>
            <a:endParaRPr/>
          </a:p>
        </p:txBody>
      </p:sp>
      <p:sp>
        <p:nvSpPr>
          <p:cNvPr id="125" name="Google Shape;125;p25"/>
          <p:cNvSpPr txBox="1"/>
          <p:nvPr>
            <p:ph idx="3" type="title"/>
          </p:nvPr>
        </p:nvSpPr>
        <p:spPr>
          <a:xfrm>
            <a:off x="377702" y="2033626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3 -</a:t>
            </a:r>
            <a:endParaRPr/>
          </a:p>
        </p:txBody>
      </p:sp>
      <p:sp>
        <p:nvSpPr>
          <p:cNvPr id="126" name="Google Shape;126;p25"/>
          <p:cNvSpPr txBox="1"/>
          <p:nvPr>
            <p:ph idx="4" type="title"/>
          </p:nvPr>
        </p:nvSpPr>
        <p:spPr>
          <a:xfrm>
            <a:off x="377689" y="1413513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2 -</a:t>
            </a:r>
            <a:endParaRPr/>
          </a:p>
        </p:txBody>
      </p:sp>
      <p:sp>
        <p:nvSpPr>
          <p:cNvPr id="127" name="Google Shape;127;p25"/>
          <p:cNvSpPr txBox="1"/>
          <p:nvPr>
            <p:ph idx="5" type="title"/>
          </p:nvPr>
        </p:nvSpPr>
        <p:spPr>
          <a:xfrm>
            <a:off x="377702" y="3192438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5 -</a:t>
            </a:r>
            <a:endParaRPr/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1317900" y="1021550"/>
            <a:ext cx="54828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Intro to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Authentication &amp; Authorization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idx="6" type="subTitle"/>
          </p:nvPr>
        </p:nvSpPr>
        <p:spPr>
          <a:xfrm>
            <a:off x="1363628" y="1463575"/>
            <a:ext cx="3490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Authentication concept</a:t>
            </a:r>
            <a:endParaRPr/>
          </a:p>
        </p:txBody>
      </p:sp>
      <p:sp>
        <p:nvSpPr>
          <p:cNvPr id="130" name="Google Shape;130;p25"/>
          <p:cNvSpPr txBox="1"/>
          <p:nvPr>
            <p:ph idx="7" type="subTitle"/>
          </p:nvPr>
        </p:nvSpPr>
        <p:spPr>
          <a:xfrm>
            <a:off x="1363625" y="2064413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Token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&amp; cookies</a:t>
            </a:r>
            <a:endParaRPr/>
          </a:p>
        </p:txBody>
      </p:sp>
      <p:sp>
        <p:nvSpPr>
          <p:cNvPr id="131" name="Google Shape;131;p25"/>
          <p:cNvSpPr txBox="1"/>
          <p:nvPr>
            <p:ph idx="8" type="subTitle"/>
          </p:nvPr>
        </p:nvSpPr>
        <p:spPr>
          <a:xfrm>
            <a:off x="1363625" y="2642250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Sign up/in flow</a:t>
            </a:r>
            <a:endParaRPr/>
          </a:p>
        </p:txBody>
      </p:sp>
      <p:sp>
        <p:nvSpPr>
          <p:cNvPr id="132" name="Google Shape;132;p25"/>
          <p:cNvSpPr txBox="1"/>
          <p:nvPr>
            <p:ph idx="2" type="title"/>
          </p:nvPr>
        </p:nvSpPr>
        <p:spPr>
          <a:xfrm>
            <a:off x="377702" y="2617213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4 - 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1391100" y="336331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lang="en"/>
              <a:t> concept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-1608900" y="38209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6 -</a:t>
            </a:r>
            <a:endParaRPr/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1391100" y="398341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Admin Panel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-1608900" y="42980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7 -</a:t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1429475" y="446056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Kahoot !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733825" y="1187450"/>
            <a:ext cx="51786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400"/>
              <a:t>Introduction to </a:t>
            </a:r>
            <a:endParaRPr sz="4400"/>
          </a:p>
        </p:txBody>
      </p:sp>
      <p:cxnSp>
        <p:nvCxnSpPr>
          <p:cNvPr id="143" name="Google Shape;143;p26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6"/>
          <p:cNvSpPr txBox="1"/>
          <p:nvPr/>
        </p:nvSpPr>
        <p:spPr>
          <a:xfrm>
            <a:off x="1427375" y="2550425"/>
            <a:ext cx="4135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Authentication  &amp;</a:t>
            </a:r>
            <a:endParaRPr sz="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257175" y="2518125"/>
            <a:ext cx="33531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Authorization</a:t>
            </a:r>
            <a:endParaRPr sz="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762754" y="2222550"/>
            <a:ext cx="7618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5800"/>
              <a:t>Story!</a:t>
            </a:r>
            <a:endParaRPr sz="5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8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6" name="Google Shape;156;p28" title="WhatsApp Video 2026-02-07 at 1.25.38 AM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82500"/>
            <a:ext cx="80772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-425525" y="1778175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Authentication </a:t>
            </a:r>
            <a:endParaRPr/>
          </a:p>
        </p:txBody>
      </p:sp>
      <p:cxnSp>
        <p:nvCxnSpPr>
          <p:cNvPr id="162" name="Google Shape;162;p29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2" type="subTitle"/>
          </p:nvPr>
        </p:nvSpPr>
        <p:spPr>
          <a:xfrm>
            <a:off x="3800050" y="973450"/>
            <a:ext cx="50673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★"/>
            </a:pPr>
            <a:r>
              <a:rPr lang="en" sz="2100"/>
              <a:t>Authentication = verifying </a:t>
            </a:r>
            <a:r>
              <a:rPr lang="en" sz="2100">
                <a:solidFill>
                  <a:schemeClr val="lt2"/>
                </a:solidFill>
              </a:rPr>
              <a:t>identity</a:t>
            </a:r>
            <a:br>
              <a:rPr lang="en" sz="2100"/>
            </a:br>
            <a:endParaRPr sz="2100"/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★"/>
            </a:pPr>
            <a:r>
              <a:rPr lang="en" sz="2100"/>
              <a:t>Happens before authorization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/>
          </a:p>
        </p:txBody>
      </p:sp>
      <p:sp>
        <p:nvSpPr>
          <p:cNvPr id="168" name="Google Shape;168;p30"/>
          <p:cNvSpPr txBox="1"/>
          <p:nvPr>
            <p:ph idx="4" type="subTitle"/>
          </p:nvPr>
        </p:nvSpPr>
        <p:spPr>
          <a:xfrm>
            <a:off x="4113350" y="248066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>
                <a:solidFill>
                  <a:schemeClr val="lt2"/>
                </a:solidFill>
              </a:rPr>
              <a:t>Authentication in Real Life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169" name="Google Shape;169;p30"/>
          <p:cNvSpPr txBox="1"/>
          <p:nvPr>
            <p:ph type="title"/>
          </p:nvPr>
        </p:nvSpPr>
        <p:spPr>
          <a:xfrm>
            <a:off x="291725" y="2091900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Authentication</a:t>
            </a:r>
            <a:endParaRPr sz="1000"/>
          </a:p>
        </p:txBody>
      </p:sp>
      <p:sp>
        <p:nvSpPr>
          <p:cNvPr id="170" name="Google Shape;170;p30"/>
          <p:cNvSpPr txBox="1"/>
          <p:nvPr>
            <p:ph idx="1" type="subTitle"/>
          </p:nvPr>
        </p:nvSpPr>
        <p:spPr>
          <a:xfrm>
            <a:off x="3753975" y="3053350"/>
            <a:ext cx="46737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Showing your ID card</a:t>
            </a:r>
            <a:br>
              <a:rPr lang="en" sz="1900"/>
            </a:b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Entering a password to unlock your phone</a:t>
            </a:r>
            <a:br>
              <a:rPr lang="en" sz="1900"/>
            </a:b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Using fingerprint / Face ID</a:t>
            </a:r>
            <a:endParaRPr sz="1900"/>
          </a:p>
        </p:txBody>
      </p:sp>
      <p:sp>
        <p:nvSpPr>
          <p:cNvPr id="171" name="Google Shape;171;p30"/>
          <p:cNvSpPr txBox="1"/>
          <p:nvPr>
            <p:ph idx="3" type="subTitle"/>
          </p:nvPr>
        </p:nvSpPr>
        <p:spPr>
          <a:xfrm>
            <a:off x="4128700" y="367988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>
                <a:solidFill>
                  <a:schemeClr val="lt2"/>
                </a:solidFill>
              </a:rPr>
              <a:t>Who are you?</a:t>
            </a:r>
            <a:endParaRPr sz="2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idx="4" type="subTitle"/>
          </p:nvPr>
        </p:nvSpPr>
        <p:spPr>
          <a:xfrm>
            <a:off x="3501800" y="1519200"/>
            <a:ext cx="550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>
                <a:solidFill>
                  <a:schemeClr val="lt2"/>
                </a:solidFill>
              </a:rPr>
              <a:t>Authentication in Applications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77" name="Google Shape;177;p31"/>
          <p:cNvSpPr txBox="1"/>
          <p:nvPr>
            <p:ph type="title"/>
          </p:nvPr>
        </p:nvSpPr>
        <p:spPr>
          <a:xfrm>
            <a:off x="291725" y="2091900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Authentication</a:t>
            </a:r>
            <a:endParaRPr sz="1000"/>
          </a:p>
        </p:txBody>
      </p:sp>
      <p:sp>
        <p:nvSpPr>
          <p:cNvPr id="178" name="Google Shape;178;p31"/>
          <p:cNvSpPr txBox="1"/>
          <p:nvPr>
            <p:ph idx="1" type="subTitle"/>
          </p:nvPr>
        </p:nvSpPr>
        <p:spPr>
          <a:xfrm>
            <a:off x="2738000" y="2278650"/>
            <a:ext cx="46737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Login 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2780400" y="1475625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Question!</a:t>
            </a:r>
            <a:endParaRPr sz="1000"/>
          </a:p>
        </p:txBody>
      </p:sp>
      <p:sp>
        <p:nvSpPr>
          <p:cNvPr id="184" name="Google Shape;184;p32"/>
          <p:cNvSpPr txBox="1"/>
          <p:nvPr>
            <p:ph type="title"/>
          </p:nvPr>
        </p:nvSpPr>
        <p:spPr>
          <a:xfrm>
            <a:off x="2002650" y="2780775"/>
            <a:ext cx="5138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900"/>
              <a:t>Http is </a:t>
            </a:r>
            <a:r>
              <a:rPr lang="en" sz="2900">
                <a:solidFill>
                  <a:schemeClr val="lt2"/>
                </a:solidFill>
              </a:rPr>
              <a:t>stateless or not</a:t>
            </a:r>
            <a:r>
              <a:rPr lang="en" sz="2900"/>
              <a:t>?</a:t>
            </a:r>
            <a:endParaRPr sz="2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2110300" y="618000"/>
            <a:ext cx="5138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900"/>
              <a:t>Http is </a:t>
            </a:r>
            <a:r>
              <a:rPr lang="en" sz="2900">
                <a:solidFill>
                  <a:schemeClr val="lt2"/>
                </a:solidFill>
              </a:rPr>
              <a:t>stateless</a:t>
            </a:r>
            <a:r>
              <a:rPr lang="en" sz="2900"/>
              <a:t>!</a:t>
            </a:r>
            <a:endParaRPr sz="2900"/>
          </a:p>
        </p:txBody>
      </p:sp>
      <p:sp>
        <p:nvSpPr>
          <p:cNvPr id="190" name="Google Shape;190;p33"/>
          <p:cNvSpPr txBox="1"/>
          <p:nvPr>
            <p:ph idx="1" type="subTitle"/>
          </p:nvPr>
        </p:nvSpPr>
        <p:spPr>
          <a:xfrm>
            <a:off x="2955325" y="5081987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3" type="subTitle"/>
          </p:nvPr>
        </p:nvSpPr>
        <p:spPr>
          <a:xfrm>
            <a:off x="460600" y="1650525"/>
            <a:ext cx="81990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/>
              <a:t>which means each request is independent and the server does not remember previous requests by default </a:t>
            </a:r>
            <a:endParaRPr sz="2300"/>
          </a:p>
        </p:txBody>
      </p:sp>
      <p:pic>
        <p:nvPicPr>
          <p:cNvPr id="192" name="Google Shape;192;p33" title="تاج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5">
            <a:off x="4937200" y="425578"/>
            <a:ext cx="627075" cy="41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idx="4" type="subTitle"/>
          </p:nvPr>
        </p:nvSpPr>
        <p:spPr>
          <a:xfrm>
            <a:off x="1885000" y="444450"/>
            <a:ext cx="550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>
                <a:solidFill>
                  <a:schemeClr val="lt2"/>
                </a:solidFill>
              </a:rPr>
              <a:t>And There is a Problem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61425" y="1211575"/>
            <a:ext cx="8690100" cy="22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Login is done once</a:t>
            </a:r>
            <a:endParaRPr sz="2600"/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600"/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so , When a user logs in successfully, the backend needs a way to remember them in future requests.</a:t>
            </a:r>
            <a:endParaRPr sz="2600"/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600"/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That ‘memory’ is done using either sessions or tokens.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idx="2" type="title"/>
          </p:nvPr>
        </p:nvSpPr>
        <p:spPr>
          <a:xfrm>
            <a:off x="644650" y="1547625"/>
            <a:ext cx="82866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Session-Based Authentication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                                vs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Token-Based Authentication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39850" y="1775475"/>
            <a:ext cx="8553600" cy="303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After login, the server creates a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session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The session data is stored on the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server (memory or database)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session ID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 is generated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The session ID is sent to the client as a cookie</a:t>
            </a:r>
            <a:b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600"/>
              <a:buNone/>
            </a:pPr>
            <a:b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/>
          </a:p>
        </p:txBody>
      </p:sp>
      <p:sp>
        <p:nvSpPr>
          <p:cNvPr id="209" name="Google Shape;209;p36"/>
          <p:cNvSpPr txBox="1"/>
          <p:nvPr>
            <p:ph idx="2" type="title"/>
          </p:nvPr>
        </p:nvSpPr>
        <p:spPr>
          <a:xfrm>
            <a:off x="238050" y="375675"/>
            <a:ext cx="866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600"/>
              <a:t>Session-Based Auth </a:t>
            </a:r>
            <a:endParaRPr sz="4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7" title="giph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525" y="516075"/>
            <a:ext cx="5374950" cy="40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444150" y="209190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5000">
                <a:latin typeface="Arial"/>
                <a:ea typeface="Arial"/>
                <a:cs typeface="Arial"/>
                <a:sym typeface="Arial"/>
              </a:rPr>
              <a:t>cookies</a:t>
            </a:r>
            <a:endParaRPr sz="4100"/>
          </a:p>
        </p:txBody>
      </p:sp>
      <p:sp>
        <p:nvSpPr>
          <p:cNvPr id="220" name="Google Shape;220;p38"/>
          <p:cNvSpPr txBox="1"/>
          <p:nvPr>
            <p:ph idx="1" type="subTitle"/>
          </p:nvPr>
        </p:nvSpPr>
        <p:spPr>
          <a:xfrm>
            <a:off x="4153075" y="2577975"/>
            <a:ext cx="45966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Because HTTP is stateless, the backend uses cookies to </a:t>
            </a:r>
            <a:r>
              <a:rPr b="1" lang="en" sz="1900">
                <a:latin typeface="Arial"/>
                <a:ea typeface="Arial"/>
                <a:cs typeface="Arial"/>
                <a:sym typeface="Arial"/>
              </a:rPr>
              <a:t>maintain user state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across multiple requests.</a:t>
            </a:r>
            <a:br>
              <a:rPr lang="en" sz="1900">
                <a:latin typeface="Arial"/>
                <a:ea typeface="Arial"/>
                <a:cs typeface="Arial"/>
                <a:sym typeface="Arial"/>
              </a:rPr>
            </a:br>
            <a:r>
              <a:rPr lang="en" sz="1900">
                <a:latin typeface="Arial"/>
                <a:ea typeface="Arial"/>
                <a:cs typeface="Arial"/>
                <a:sym typeface="Arial"/>
              </a:rPr>
              <a:t> Cookies allow the server to recognize the same user without requiring repeated authentication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br>
              <a:rPr lang="en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38"/>
          <p:cNvSpPr txBox="1"/>
          <p:nvPr>
            <p:ph idx="2" type="subTitle"/>
          </p:nvPr>
        </p:nvSpPr>
        <p:spPr>
          <a:xfrm>
            <a:off x="4132725" y="705950"/>
            <a:ext cx="49251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Cookies are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small pieces of data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created by the backend and stored in the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user’s browser.</a:t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They are automatically sent with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every request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to the backend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  <p:sp>
        <p:nvSpPr>
          <p:cNvPr id="222" name="Google Shape;222;p38"/>
          <p:cNvSpPr txBox="1"/>
          <p:nvPr>
            <p:ph idx="4" type="subTitle"/>
          </p:nvPr>
        </p:nvSpPr>
        <p:spPr>
          <a:xfrm>
            <a:off x="3982550" y="2057226"/>
            <a:ext cx="4779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lt2"/>
                </a:solidFill>
              </a:rPr>
              <a:t>Why  Are cookies Important in Backend?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4050825" y="954300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4050825" y="1440475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5" name="Google Shape;225;p38"/>
          <p:cNvSpPr/>
          <p:nvPr/>
        </p:nvSpPr>
        <p:spPr>
          <a:xfrm>
            <a:off x="4042800" y="2949513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4042800" y="3920613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idx="2" type="title"/>
          </p:nvPr>
        </p:nvSpPr>
        <p:spPr>
          <a:xfrm>
            <a:off x="301750" y="204225"/>
            <a:ext cx="8129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500"/>
              <a:t>Token-Based Auth </a:t>
            </a:r>
            <a:endParaRPr sz="4500"/>
          </a:p>
        </p:txBody>
      </p:sp>
      <p:sp>
        <p:nvSpPr>
          <p:cNvPr id="232" name="Google Shape;232;p39"/>
          <p:cNvSpPr txBox="1"/>
          <p:nvPr/>
        </p:nvSpPr>
        <p:spPr>
          <a:xfrm>
            <a:off x="609450" y="1709325"/>
            <a:ext cx="8401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login, the server generates a token </a:t>
            </a:r>
            <a:b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token contains user data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token is sent to the client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client stores it (usually in a cookie)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121650" y="185735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4100"/>
              <a:t>Token</a:t>
            </a:r>
            <a:endParaRPr sz="4100"/>
          </a:p>
        </p:txBody>
      </p:sp>
      <p:sp>
        <p:nvSpPr>
          <p:cNvPr id="238" name="Google Shape;238;p40"/>
          <p:cNvSpPr txBox="1"/>
          <p:nvPr>
            <p:ph idx="1" type="subTitle"/>
          </p:nvPr>
        </p:nvSpPr>
        <p:spPr>
          <a:xfrm>
            <a:off x="2817425" y="2678538"/>
            <a:ext cx="59505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Tokens enable </a:t>
            </a: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stateless authentication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, meaning the server does not need to store session data.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They allow the backend to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identify the user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on every request without asking for credentials again.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Tokens help maintain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secure communication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between the frontend and backend.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40"/>
          <p:cNvSpPr txBox="1"/>
          <p:nvPr>
            <p:ph idx="2" type="subTitle"/>
          </p:nvPr>
        </p:nvSpPr>
        <p:spPr>
          <a:xfrm>
            <a:off x="2929175" y="280913"/>
            <a:ext cx="5727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 token is a </a:t>
            </a: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secure string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used to represent an authenticated user.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It is generated by the server after successful authentication and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sent to the client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to prove the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user’s identity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in future requests</a:t>
            </a:r>
            <a:endParaRPr sz="1900"/>
          </a:p>
        </p:txBody>
      </p:sp>
      <p:sp>
        <p:nvSpPr>
          <p:cNvPr id="240" name="Google Shape;240;p40"/>
          <p:cNvSpPr txBox="1"/>
          <p:nvPr>
            <p:ph idx="4" type="subTitle"/>
          </p:nvPr>
        </p:nvSpPr>
        <p:spPr>
          <a:xfrm>
            <a:off x="2892725" y="2031438"/>
            <a:ext cx="54060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>
                <a:solidFill>
                  <a:schemeClr val="lt2"/>
                </a:solidFill>
              </a:rPr>
              <a:t>Why Tokens Are Important in Backend?</a:t>
            </a:r>
            <a:endParaRPr sz="2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413900" y="464050"/>
            <a:ext cx="84648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Role of Tokens in Authentication &amp; Authorization</a:t>
            </a:r>
            <a:endParaRPr/>
          </a:p>
        </p:txBody>
      </p:sp>
      <p:sp>
        <p:nvSpPr>
          <p:cNvPr id="246" name="Google Shape;246;p41"/>
          <p:cNvSpPr txBox="1"/>
          <p:nvPr/>
        </p:nvSpPr>
        <p:spPr>
          <a:xfrm>
            <a:off x="641600" y="1270200"/>
            <a:ext cx="81111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i="0" lang="en" sz="2400" u="none" cap="none" strike="noStrike">
                <a:solidFill>
                  <a:srgbClr val="15D2CB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tokens confirm that the user has successfully logged in.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i="0" lang="en" sz="2400" u="none" cap="none" strike="noStrike">
                <a:solidFill>
                  <a:srgbClr val="15D2CB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tokens carry information as “user ID “or “role” that helps determine what the user is allowed to access.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Tokens are validated by the backend on </a:t>
            </a:r>
            <a:r>
              <a:rPr b="0" i="0" lang="en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each request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ensure the request is legitimate</a:t>
            </a:r>
            <a:endParaRPr b="0" i="0" sz="12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031950" y="1984125"/>
            <a:ext cx="32022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 . . 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174"/>
            <a:ext cx="9144000" cy="4845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4"/>
          <p:cNvPicPr preferRelativeResize="0"/>
          <p:nvPr/>
        </p:nvPicPr>
        <p:blipFill rotWithShape="1">
          <a:blip r:embed="rId3">
            <a:alphaModFix/>
          </a:blip>
          <a:srcRect b="524" l="0" r="0" t="504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421575" y="149300"/>
            <a:ext cx="84648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JSON Web Token (JWT)</a:t>
            </a:r>
            <a:endParaRPr/>
          </a:p>
        </p:txBody>
      </p:sp>
      <p:sp>
        <p:nvSpPr>
          <p:cNvPr id="267" name="Google Shape;267;p45"/>
          <p:cNvSpPr txBox="1"/>
          <p:nvPr/>
        </p:nvSpPr>
        <p:spPr>
          <a:xfrm>
            <a:off x="656950" y="970800"/>
            <a:ext cx="81111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compact, secure token used for authentication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 from backend → client after successful login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every request to identify the user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JWT consists of 3 parts:  (jwt.io)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sng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Header.Payload.Signature</a:t>
            </a:r>
            <a:endParaRPr b="0" i="0" sz="1900" u="sng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 → token type &amp; algorithm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Payload → user data (id, role, email)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Signature → ensures token is not tampered with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-375775" y="1685825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500">
                <a:latin typeface="Syne Medium"/>
                <a:ea typeface="Syne Medium"/>
                <a:cs typeface="Syne Medium"/>
                <a:sym typeface="Syne Medium"/>
              </a:rPr>
              <a:t>Sign up/in flow</a:t>
            </a:r>
            <a:r>
              <a:rPr lang="en"/>
              <a:t> </a:t>
            </a:r>
            <a:endParaRPr/>
          </a:p>
        </p:txBody>
      </p:sp>
      <p:cxnSp>
        <p:nvCxnSpPr>
          <p:cNvPr id="273" name="Google Shape;273;p46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89250"/>
            <a:ext cx="8839199" cy="2165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363" y="383262"/>
            <a:ext cx="6649275" cy="44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49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9" name="Google Shape;2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3" y="45344"/>
            <a:ext cx="8982775" cy="5052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400900" y="1863450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lang="en">
                <a:latin typeface="Syne Medium"/>
                <a:ea typeface="Syne Medium"/>
                <a:cs typeface="Syne Medium"/>
                <a:sym typeface="Syne Medium"/>
              </a:rPr>
              <a:t> concept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295" name="Google Shape;295;p50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idx="2" type="subTitle"/>
          </p:nvPr>
        </p:nvSpPr>
        <p:spPr>
          <a:xfrm>
            <a:off x="4308275" y="825750"/>
            <a:ext cx="42204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en" sz="1800"/>
              <a:t>Authorization = verifying </a:t>
            </a:r>
            <a:r>
              <a:rPr lang="en" sz="1800">
                <a:solidFill>
                  <a:schemeClr val="lt2"/>
                </a:solidFill>
              </a:rPr>
              <a:t>role</a:t>
            </a:r>
            <a:br>
              <a:rPr lang="en" sz="1800"/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en" sz="1800"/>
              <a:t>Is the process of </a:t>
            </a:r>
            <a:r>
              <a:rPr b="1" lang="en" sz="1800"/>
              <a:t>determining what </a:t>
            </a:r>
            <a:r>
              <a:rPr b="1" lang="en" sz="1800">
                <a:solidFill>
                  <a:schemeClr val="lt2"/>
                </a:solidFill>
              </a:rPr>
              <a:t>actions</a:t>
            </a:r>
            <a:r>
              <a:rPr b="1" lang="en" sz="1800"/>
              <a:t> an authenticated user is allowed to perform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 </a:t>
            </a:r>
            <a:endParaRPr b="1" sz="1900"/>
          </a:p>
        </p:txBody>
      </p:sp>
      <p:sp>
        <p:nvSpPr>
          <p:cNvPr id="301" name="Google Shape;301;p51"/>
          <p:cNvSpPr txBox="1"/>
          <p:nvPr>
            <p:ph idx="4" type="subTitle"/>
          </p:nvPr>
        </p:nvSpPr>
        <p:spPr>
          <a:xfrm>
            <a:off x="4308275" y="246751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2"/>
                </a:solidFill>
              </a:rPr>
              <a:t>Authorization in Real Life</a:t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02" name="Google Shape;302;p51"/>
          <p:cNvSpPr txBox="1"/>
          <p:nvPr>
            <p:ph type="title"/>
          </p:nvPr>
        </p:nvSpPr>
        <p:spPr>
          <a:xfrm>
            <a:off x="164650" y="2103300"/>
            <a:ext cx="39555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4200">
                <a:latin typeface="Arial"/>
                <a:ea typeface="Arial"/>
                <a:cs typeface="Arial"/>
                <a:sym typeface="Arial"/>
              </a:rPr>
              <a:t>Authorization</a:t>
            </a:r>
            <a:endParaRPr sz="200"/>
          </a:p>
        </p:txBody>
      </p:sp>
      <p:sp>
        <p:nvSpPr>
          <p:cNvPr id="303" name="Google Shape;303;p51"/>
          <p:cNvSpPr txBox="1"/>
          <p:nvPr>
            <p:ph idx="1" type="subTitle"/>
          </p:nvPr>
        </p:nvSpPr>
        <p:spPr>
          <a:xfrm>
            <a:off x="4120150" y="2850350"/>
            <a:ext cx="5025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Being allowed to delete a post as an admin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Accessing your bank account features based on your role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Viewing restricted content after logging in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Opening specific apps or settings on your phone based on permissions</a:t>
            </a:r>
            <a:endParaRPr sz="1700"/>
          </a:p>
        </p:txBody>
      </p:sp>
      <p:sp>
        <p:nvSpPr>
          <p:cNvPr id="304" name="Google Shape;304;p51"/>
          <p:cNvSpPr txBox="1"/>
          <p:nvPr>
            <p:ph idx="3" type="subTitle"/>
          </p:nvPr>
        </p:nvSpPr>
        <p:spPr>
          <a:xfrm>
            <a:off x="4371475" y="277263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2"/>
                </a:solidFill>
              </a:rPr>
              <a:t>What do you do?</a:t>
            </a: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type="title"/>
          </p:nvPr>
        </p:nvSpPr>
        <p:spPr>
          <a:xfrm>
            <a:off x="1969325" y="208850"/>
            <a:ext cx="5282700" cy="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Admin Panel Demo !</a:t>
            </a:r>
            <a:endParaRPr sz="3400"/>
          </a:p>
        </p:txBody>
      </p:sp>
      <p:pic>
        <p:nvPicPr>
          <p:cNvPr id="310" name="Google Shape;31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275" y="1245250"/>
            <a:ext cx="6187650" cy="34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اعطني فقط رمز كاهوت المربع الذي فس المنتصف كصورة" id="315" name="Google Shape;315;p53"/>
          <p:cNvPicPr preferRelativeResize="0"/>
          <p:nvPr/>
        </p:nvPicPr>
        <p:blipFill rotWithShape="1">
          <a:blip r:embed="rId3">
            <a:alphaModFix/>
          </a:blip>
          <a:srcRect b="22420" l="21792" r="22730" t="21191"/>
          <a:stretch/>
        </p:blipFill>
        <p:spPr>
          <a:xfrm>
            <a:off x="665675" y="1207463"/>
            <a:ext cx="2684675" cy="27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3"/>
          <p:cNvSpPr txBox="1"/>
          <p:nvPr/>
        </p:nvSpPr>
        <p:spPr>
          <a:xfrm>
            <a:off x="5029825" y="2159675"/>
            <a:ext cx="299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Kahoot !</a:t>
            </a:r>
            <a:endParaRPr b="1" i="1"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3153607" y="1649363"/>
            <a:ext cx="283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2" name="Google Shape;322;p54"/>
          <p:cNvSpPr txBox="1"/>
          <p:nvPr>
            <p:ph idx="1" type="subTitle"/>
          </p:nvPr>
        </p:nvSpPr>
        <p:spPr>
          <a:xfrm>
            <a:off x="3153575" y="2435437"/>
            <a:ext cx="2836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3" name="Google Shape;323;p54"/>
          <p:cNvSpPr/>
          <p:nvPr/>
        </p:nvSpPr>
        <p:spPr>
          <a:xfrm>
            <a:off x="-25" y="3494125"/>
            <a:ext cx="9144000" cy="16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